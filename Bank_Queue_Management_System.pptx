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04120" y="1234440"/>
            <a:ext cx="-914400" cy="914400"/>
          </a:xfrm>
          <a:prstGeom prst="line">
            <a:avLst/>
          </a:prstGeom>
          <a:noFill/>
          <a:ln w="19050">
            <a:solidFill>
              <a:srgbClr val="1F6FEB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04120" y="1234440"/>
            <a:ext cx="914400" cy="914400"/>
          </a:xfrm>
          <a:prstGeom prst="line">
            <a:avLst/>
          </a:prstGeom>
          <a:noFill/>
          <a:ln w="19050">
            <a:solidFill>
              <a:srgbClr val="1F6FEB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89720" y="2423160"/>
            <a:ext cx="-640080" cy="822960"/>
          </a:xfrm>
          <a:prstGeom prst="line">
            <a:avLst/>
          </a:prstGeom>
          <a:noFill/>
          <a:ln w="19050">
            <a:solidFill>
              <a:srgbClr val="1F6FEB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89720" y="2423160"/>
            <a:ext cx="640080" cy="822960"/>
          </a:xfrm>
          <a:prstGeom prst="line">
            <a:avLst/>
          </a:prstGeom>
          <a:noFill/>
          <a:ln w="19050">
            <a:solidFill>
              <a:srgbClr val="1F6FEB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18520" y="2423160"/>
            <a:ext cx="457200" cy="822960"/>
          </a:xfrm>
          <a:prstGeom prst="line">
            <a:avLst/>
          </a:prstGeom>
          <a:noFill/>
          <a:ln w="19050">
            <a:solidFill>
              <a:srgbClr val="1F6FEB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29800" y="914400"/>
            <a:ext cx="566928" cy="566928"/>
          </a:xfrm>
          <a:prstGeom prst="ellipse">
            <a:avLst/>
          </a:prstGeom>
          <a:solidFill>
            <a:srgbClr val="1F6FEB">
              <a:alpha val="8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942832" y="2121408"/>
            <a:ext cx="502920" cy="502920"/>
          </a:xfrm>
          <a:prstGeom prst="ellipse">
            <a:avLst/>
          </a:prstGeom>
          <a:solidFill>
            <a:srgbClr val="10B981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771632" y="2121408"/>
            <a:ext cx="502920" cy="502920"/>
          </a:xfrm>
          <a:prstGeom prst="ellipse">
            <a:avLst/>
          </a:prstGeom>
          <a:solidFill>
            <a:srgbClr val="1F6FEB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302752" y="3200400"/>
            <a:ext cx="420624" cy="420624"/>
          </a:xfrm>
          <a:prstGeom prst="ellipse">
            <a:avLst/>
          </a:prstGeom>
          <a:solidFill>
            <a:srgbClr val="1F6FEB">
              <a:alpha val="5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601200" y="3200400"/>
            <a:ext cx="420624" cy="420624"/>
          </a:xfrm>
          <a:prstGeom prst="ellipse">
            <a:avLst/>
          </a:prstGeom>
          <a:solidFill>
            <a:srgbClr val="10B981">
              <a:alpha val="5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247120" y="3200400"/>
            <a:ext cx="420624" cy="420624"/>
          </a:xfrm>
          <a:prstGeom prst="ellipse">
            <a:avLst/>
          </a:prstGeom>
          <a:solidFill>
            <a:srgbClr val="1F6FEB">
              <a:alpha val="5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SEN2212 · DATA STRUCTURES &amp; ALGORITHMS II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1828800"/>
            <a:ext cx="8595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Bank Queue</a:t>
            </a:r>
            <a:endParaRPr lang="en-US" sz="52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Management System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822960" y="37033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9D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single-window bank client manager built on two hand-coded data structures — a binary search tree for the customer registry and a FIFO queue for the waiting line.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" y="4892040"/>
            <a:ext cx="2514600" cy="868680"/>
          </a:xfrm>
          <a:prstGeom prst="roundRect">
            <a:avLst>
              <a:gd name="adj" fmla="val 10526"/>
            </a:avLst>
          </a:prstGeom>
          <a:solidFill>
            <a:srgbClr val="13294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89204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Berat Karataş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DB2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2203016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566160" y="4892040"/>
            <a:ext cx="2514600" cy="868680"/>
          </a:xfrm>
          <a:prstGeom prst="roundRect">
            <a:avLst>
              <a:gd name="adj" fmla="val 10526"/>
            </a:avLst>
          </a:prstGeom>
          <a:solidFill>
            <a:srgbClr val="13294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11880" y="489204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Emirhan Sönmez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DB2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2364656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09360" y="4892040"/>
            <a:ext cx="2514600" cy="868680"/>
          </a:xfrm>
          <a:prstGeom prst="roundRect">
            <a:avLst>
              <a:gd name="adj" fmla="val 10526"/>
            </a:avLst>
          </a:prstGeom>
          <a:solidFill>
            <a:srgbClr val="13294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489204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Melisa Okay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DB2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1905885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35</a:t>
            </a:r>
            <a:pPr algn="l" indent="0" marL="0">
              <a:buNone/>
            </a:pPr>
            <a:r>
              <a:rPr lang="en-US" sz="1300" dirty="0">
                <a:solidFill>
                  <a:srgbClr val="9D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Lab Section 904      Project Report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1F6FEB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8404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61288" y="86868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the order of customers at a bank counter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arrive at different times. </a:t>
            </a:r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clerk working from memory or sticky notes loses track of who came first and calls the wrong person.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566928" cy="566928"/>
          </a:xfrm>
          <a:prstGeom prst="ellipse">
            <a:avLst/>
          </a:prstGeom>
          <a:solidFill>
            <a:srgbClr val="1F6FE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2916936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278892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once   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customer is recorded a single time, keyed by ID.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3566160"/>
            <a:ext cx="566928" cy="566928"/>
          </a:xfrm>
          <a:prstGeom prst="ellipse">
            <a:avLst/>
          </a:prstGeom>
          <a:solidFill>
            <a:srgbClr val="1F6FE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3694176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356616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out tickets   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join the line in the order they arrive.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48640" y="4343400"/>
            <a:ext cx="566928" cy="566928"/>
          </a:xfrm>
          <a:prstGeom prst="ellipse">
            <a:avLst/>
          </a:prstGeom>
          <a:solidFill>
            <a:srgbClr val="1F6FE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4471416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434340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in order   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counter calls customers strictly first-come, first-served.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7178040" y="1554480"/>
            <a:ext cx="4480560" cy="3611880"/>
          </a:xfrm>
          <a:prstGeom prst="roundRect">
            <a:avLst>
              <a:gd name="adj" fmla="val 3038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1965960"/>
            <a:ext cx="685800" cy="6858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543800" y="27432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rule: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7543800" y="306324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First come,</a:t>
            </a:r>
            <a:endParaRPr lang="en-US" sz="3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first served.</a:t>
            </a:r>
            <a:endParaRPr lang="en-US" sz="3000" dirty="0"/>
          </a:p>
        </p:txBody>
      </p:sp>
      <p:sp>
        <p:nvSpPr>
          <p:cNvPr id="20" name="Text 14"/>
          <p:cNvSpPr/>
          <p:nvPr/>
        </p:nvSpPr>
        <p:spPr>
          <a:xfrm>
            <a:off x="7543800" y="42976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D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 Queue Management System enforces this automatically, in one desktop window.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Queue Management System  ·  Group 35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1F6FEB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8404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Environment &amp; Approach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61288" y="86868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Standard-library Java, with the data structures written by hand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679192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874520"/>
            <a:ext cx="731520" cy="731520"/>
          </a:xfrm>
          <a:prstGeom prst="ellipse">
            <a:avLst/>
          </a:prstGeom>
          <a:solidFill>
            <a:srgbClr val="EAF1F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048256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743200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2999232"/>
            <a:ext cx="222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Java, JavaSE-21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22960" y="3401568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in the Eclipse IDE.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392424" y="1600200"/>
            <a:ext cx="2679192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66744" y="1874520"/>
            <a:ext cx="731520" cy="731520"/>
          </a:xfrm>
          <a:prstGeom prst="ellipse">
            <a:avLst/>
          </a:prstGeom>
          <a:solidFill>
            <a:srgbClr val="EAF1F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2048256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66744" y="2743200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666744" y="2999232"/>
            <a:ext cx="222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Java Swing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3666744" y="3401568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Nimbus look-and-feel; one window.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236208" y="1600200"/>
            <a:ext cx="2679192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510528" y="1874520"/>
            <a:ext cx="731520" cy="731520"/>
          </a:xfrm>
          <a:prstGeom prst="ellipse">
            <a:avLst/>
          </a:prstGeom>
          <a:solidFill>
            <a:srgbClr val="EAF1FE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4" y="2048256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510528" y="2743200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510528" y="2999232"/>
            <a:ext cx="222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Flat text file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6510528" y="3401568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Musteriler.txt — id,name,surname rows.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9079992" y="1600200"/>
            <a:ext cx="2679192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354312" y="1874520"/>
            <a:ext cx="731520" cy="731520"/>
          </a:xfrm>
          <a:prstGeom prst="ellipse">
            <a:avLst/>
          </a:prstGeom>
          <a:solidFill>
            <a:srgbClr val="EAF1FE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8048" y="2048256"/>
            <a:ext cx="384048" cy="38404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354312" y="2743200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STRUCTURES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9354312" y="2999232"/>
            <a:ext cx="222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Hand-coded</a:t>
            </a:r>
            <a:endParaRPr lang="en-US" sz="1800" dirty="0"/>
          </a:p>
        </p:txBody>
      </p:sp>
      <p:sp>
        <p:nvSpPr>
          <p:cNvPr id="29" name="Text 23"/>
          <p:cNvSpPr/>
          <p:nvPr/>
        </p:nvSpPr>
        <p:spPr>
          <a:xfrm>
            <a:off x="9354312" y="3401568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TreeMap / ArrayDeque — built from nodes up.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548640" y="4251960"/>
            <a:ext cx="11109960" cy="960120"/>
          </a:xfrm>
          <a:prstGeom prst="roundRect">
            <a:avLst>
              <a:gd name="adj" fmla="val 9524"/>
            </a:avLst>
          </a:prstGeom>
          <a:solidFill>
            <a:srgbClr val="EAF1FE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526280"/>
            <a:ext cx="411480" cy="41148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463040" y="4251960"/>
            <a:ext cx="996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55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build them by hand? 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project's goal is to understand the cost of every operation — so the tree and the queue are written from their nodes up, not pulled from the collections library.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Queue Management System  ·  Group 35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1F6FEB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8404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Structures, Two Questions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61288" y="86868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core job maps onto one classic data structure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4924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920240"/>
            <a:ext cx="868680" cy="868680"/>
          </a:xfrm>
          <a:prstGeom prst="ellipse">
            <a:avLst/>
          </a:prstGeom>
          <a:solidFill>
            <a:srgbClr val="1F6FE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121408"/>
            <a:ext cx="466344" cy="4663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65960" y="19019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Registry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965960" y="23591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this ID registered, and who is it?”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32688" y="306324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Tree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Keyed by customer ID; lookup is the most frequent operation.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keys, no duplicates stored.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insert in O(log n) on average.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1600200"/>
            <a:ext cx="534924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675120" y="1920240"/>
            <a:ext cx="868680" cy="86868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288" y="2121408"/>
            <a:ext cx="466344" cy="4663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726680" y="19019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Waiting Line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7726680" y="23591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is served next?”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693408" y="306324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Queue (linked list)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 is, by definition, first-in first-out.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/ rear pointers; nodes chained in arrival order.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 &amp; dequeue in O(1) — constant time.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Queue Management System  ·  Group 35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1F6FEB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8404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CustomerBST — the registry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61288" y="86868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insert &amp; search, keyed by ID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tree?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keeping IDs ordered and halving the search space at each step, a BST finds or rejects an ID in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557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O(log n)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comparisons — versus O(n) for scanning a list.</a:t>
            </a:r>
            <a:endParaRPr lang="en-US" sz="1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70632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27432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are fixed-width student numbers, so String.compareTo orders them like numbers.</a:t>
            </a:r>
            <a:endParaRPr lang="en-US" sz="13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52044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349300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duplicate ID stops insertion — the tree never stores the same customer twice.</a:t>
            </a:r>
            <a:endParaRPr lang="en-US" sz="13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270248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0120" y="424281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methods are recursive, mirroring the shape of the tree.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548640" y="5029200"/>
            <a:ext cx="4892040" cy="1097280"/>
          </a:xfrm>
          <a:prstGeom prst="roundRect">
            <a:avLst>
              <a:gd name="adj" fmla="val 6667"/>
            </a:avLst>
          </a:prstGeom>
          <a:solidFill>
            <a:srgbClr val="FEF3E7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285232"/>
            <a:ext cx="36576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80160" y="5029200"/>
            <a:ext cx="4069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7C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 is the average. Inserting already-sorted IDs degrades the tree toward O(n) — the fix is a balanced tree (see Future Work).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5806440" y="1463040"/>
            <a:ext cx="5852160" cy="4663440"/>
          </a:xfrm>
          <a:prstGeom prst="roundRect">
            <a:avLst>
              <a:gd name="adj" fmla="val 1961"/>
            </a:avLst>
          </a:prstGeom>
          <a:solidFill>
            <a:srgbClr val="0E1726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6035040" y="1627632"/>
            <a:ext cx="544068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D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insertRec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D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D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++;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D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D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D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cmp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getId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compareTo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getId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D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cmp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0)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insertRec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D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D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cmp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0)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insertRec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D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7C8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cmp == 0  -&gt;  duplicate, ignored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D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searchRec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D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D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D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D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D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cmp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compareTo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getId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D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cmp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0)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D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D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cmp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searchRec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searchRec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Queue Management System  ·  Group 35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1F6FEB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8404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CustomerQueue — the waiting line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61288" y="86868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Singly-linked list with front &amp; rear pointers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linked queue?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 links onto the rear and dequeue unlinks the front — both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matter how long the line grows. An array would make “call next” an O(n) shift of everyone behind.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small helpers the interface needs: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502920" cy="502920"/>
          </a:xfrm>
          <a:prstGeom prst="ellipse">
            <a:avLst/>
          </a:prstGeom>
          <a:solidFill>
            <a:srgbClr val="E7F8F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3502152"/>
            <a:ext cx="265176" cy="26517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338328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contains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stops one person taking two tickets — O(n)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4041648"/>
            <a:ext cx="502920" cy="502920"/>
          </a:xfrm>
          <a:prstGeom prst="ellipse">
            <a:avLst/>
          </a:prstGeom>
          <a:solidFill>
            <a:srgbClr val="E7F8F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4160520"/>
            <a:ext cx="265176" cy="2651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88720" y="404164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peek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reports who is next without removing them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4700016"/>
            <a:ext cx="502920" cy="502920"/>
          </a:xfrm>
          <a:prstGeom prst="ellipse">
            <a:avLst/>
          </a:prstGeom>
          <a:solidFill>
            <a:srgbClr val="E7F8F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4818888"/>
            <a:ext cx="265176" cy="26517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88720" y="4700016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snapshot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copies the line so the screen can redraw it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806440" y="1463040"/>
            <a:ext cx="5852160" cy="4663440"/>
          </a:xfrm>
          <a:prstGeom prst="roundRect">
            <a:avLst>
              <a:gd name="adj" fmla="val 1961"/>
            </a:avLst>
          </a:prstGeom>
          <a:solidFill>
            <a:srgbClr val="0E1726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6035040" y="1627632"/>
            <a:ext cx="544068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D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D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enqueue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QueueNode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D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QueueNode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D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rear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D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rear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7C8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empty line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D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rear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rear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++;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D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dequeue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D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D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D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D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D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D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rear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D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7C8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line now empty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--;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D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Queue Management System  ·  Group 35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1F6FEB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8404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of Each Operation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61288" y="86868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gain by choosing each structure deliberately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75895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188720"/>
                <a:gridCol w="173736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Operation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Structure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Method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Time complexity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/ find a customer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557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insert / search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6FE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O(log n) avg · O(n) worst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 a ticket (join line)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enqueue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O(1)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next customer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dequeue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O(1)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Already in line?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contains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4530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Redraw waiting list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snapshot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4530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registered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557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getSize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O(1)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412480" y="1600200"/>
            <a:ext cx="3246120" cy="39319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COST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686800" y="2212848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0" y="221284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86800" y="259689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— instant, any line length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686800" y="3200400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1F6FEB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0" y="32004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O(log n)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686800" y="358444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gently — the BST advantage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686800" y="418795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B45309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0" y="418795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686800" y="45720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— fine at this scale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686800" y="52120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hot paths — find, join, call — are the cheap ones.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Queue Management System  ·  Group 35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1F6FEB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8404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Case Diagram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61288" y="86868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from the outside — who does what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48640" cy="548640"/>
          </a:xfrm>
          <a:prstGeom prst="ellipse">
            <a:avLst/>
          </a:prstGeom>
          <a:solidFill>
            <a:srgbClr val="1F6FE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911096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73736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Officer
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the admin actions — register, call next, view the queue and the log.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3081528"/>
            <a:ext cx="548640" cy="548640"/>
          </a:xfrm>
          <a:prstGeom prst="ellipse">
            <a:avLst/>
          </a:prstGeom>
          <a:solidFill>
            <a:srgbClr val="1F6FE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3209544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3035808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
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— added by “take a ticket”, summoned by “call next”.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48640" y="4379976"/>
            <a:ext cx="548640" cy="548640"/>
          </a:xfrm>
          <a:prstGeom prst="ellipse">
            <a:avLst/>
          </a:prstGeom>
          <a:solidFill>
            <a:srgbClr val="1F6FE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4507992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4334256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«include»
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Registering and taking a ticket both search the BST; registering also persists to file.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5020056" y="1636776"/>
            <a:ext cx="6510528" cy="472284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pic>
        <p:nvPicPr>
          <p:cNvPr id="16" name="Image 3" descr="/tmp/pdfimg/img-00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691640"/>
            <a:ext cx="6400800" cy="461312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Queue Management System  ·  Group 35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1F6FEB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8404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 Diagram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61288" y="86868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flows downward — nothing points back up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48640" cy="548640"/>
          </a:xfrm>
          <a:prstGeom prst="ellipse">
            <a:avLst/>
          </a:prstGeom>
          <a:solidFill>
            <a:srgbClr val="1F6FE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1911096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737360"/>
            <a:ext cx="5166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
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BankGUI owns one CustomerBST and one CustomerQueue (plus the nested QueueCellRenderer).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2862072"/>
            <a:ext cx="548640" cy="548640"/>
          </a:xfrm>
          <a:prstGeom prst="ellipse">
            <a:avLst/>
          </a:prstGeom>
          <a:solidFill>
            <a:srgbClr val="1F6FE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" y="2990088"/>
            <a:ext cx="283464" cy="2834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2816352"/>
            <a:ext cx="5166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structure owns its nodes
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tree a root Node with left / right; the queue a chain of QueueNodes, front → rear.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48640" y="3941064"/>
            <a:ext cx="548640" cy="548640"/>
          </a:xfrm>
          <a:prstGeom prst="ellipse">
            <a:avLst/>
          </a:prstGeom>
          <a:solidFill>
            <a:srgbClr val="1F6FE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" y="4069080"/>
            <a:ext cx="283464" cy="2834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895344"/>
            <a:ext cx="5166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is shared
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plain id / name / surname record both structures store; every node points to one.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548640" y="5074920"/>
            <a:ext cx="5897880" cy="1051560"/>
          </a:xfrm>
          <a:prstGeom prst="roundRect">
            <a:avLst>
              <a:gd name="adj" fmla="val 6957"/>
            </a:avLst>
          </a:prstGeom>
          <a:solidFill>
            <a:srgbClr val="EAF1FE"/>
          </a:solidFill>
          <a:ln/>
        </p:spPr>
      </p:sp>
      <p:sp>
        <p:nvSpPr>
          <p:cNvPr id="16" name="Text 11"/>
          <p:cNvSpPr/>
          <p:nvPr/>
        </p:nvSpPr>
        <p:spPr>
          <a:xfrm>
            <a:off x="777240" y="5074920"/>
            <a:ext cx="5440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55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Testable in isolation: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structures know nothing about the GUI, so the tree and queue were exercised from a plain main() before the window existed.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7763256" y="905256"/>
            <a:ext cx="3995928" cy="4292743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pic>
        <p:nvPicPr>
          <p:cNvPr id="18" name="Image 3" descr="/tmp/pdfimg/img-00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960120"/>
            <a:ext cx="3886200" cy="418301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Queue Management System  ·  Group 35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1F6FEB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8404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Walkthrough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61288" y="86868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session: load the registry, build the line, serve in order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1F6FE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78992" y="1554480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Launch &amp; load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93776" y="2093976"/>
            <a:ext cx="3630168" cy="235400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pic>
        <p:nvPicPr>
          <p:cNvPr id="10" name="Image 0" descr="/tmp/pdfimg/img-0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48840"/>
            <a:ext cx="3520440" cy="224428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66928" y="4576001"/>
            <a:ext cx="3502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Musteriler.txt into the BST — “4 müşteri yüklendi.” The waiting line starts empty.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43400" y="1554480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1F6FEB"/>
          </a:solidFill>
          <a:ln/>
        </p:spPr>
      </p:sp>
      <p:sp>
        <p:nvSpPr>
          <p:cNvPr id="13" name="Text 10"/>
          <p:cNvSpPr/>
          <p:nvPr/>
        </p:nvSpPr>
        <p:spPr>
          <a:xfrm>
            <a:off x="434340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873752" y="1554480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the line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288536" y="2093976"/>
            <a:ext cx="3630168" cy="235400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pic>
        <p:nvPicPr>
          <p:cNvPr id="16" name="Image 1" descr="/tmp/pdfimg/img-00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148840"/>
            <a:ext cx="3520440" cy="224428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361688" y="4576001"/>
            <a:ext cx="3502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“Sıra Al” checks each ID against the tree, then enqueues. The front is highlighted green.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138160" y="1554480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10B981"/>
          </a:solidFill>
          <a:ln/>
        </p:spPr>
      </p:sp>
      <p:sp>
        <p:nvSpPr>
          <p:cNvPr id="19" name="Text 15"/>
          <p:cNvSpPr/>
          <p:nvPr/>
        </p:nvSpPr>
        <p:spPr>
          <a:xfrm>
            <a:off x="813816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8668512" y="1554480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 in order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8083296" y="2093976"/>
            <a:ext cx="3630168" cy="235400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pic>
        <p:nvPicPr>
          <p:cNvPr id="22" name="Image 2" descr="/tmp/pdfimg/img-00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2148840"/>
            <a:ext cx="3520440" cy="2244281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156448" y="4576001"/>
            <a:ext cx="3502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“Sıradakini Çağır” dequeues the front (Berat); the line shifts up — strict FIFO.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Queue Management System  ·  Group 35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1F6FEB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8404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Choices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61288" y="86868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considered the alternatives — and rejected them on purpose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49240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2688" y="1938528"/>
            <a:ext cx="749808" cy="749808"/>
          </a:xfrm>
          <a:prstGeom prst="ellipse">
            <a:avLst/>
          </a:prstGeom>
          <a:solidFill>
            <a:srgbClr val="1F6FE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103120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47088" y="19202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9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Registry: BST, not a HashMap</a:t>
            </a:r>
            <a:endParaRPr lang="en-US" sz="19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926080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89888" y="2852928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tree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IDs ordered (room for range / sorted listings) and lets us own the algorithm.</a:t>
            </a:r>
            <a:endParaRPr lang="en-US" sz="13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297680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9888" y="4224528"/>
            <a:ext cx="4251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map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be O(1) but unordered — and shrinks the whole registry to a single library call.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309360" y="1600200"/>
            <a:ext cx="5349240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6693408" y="1938528"/>
            <a:ext cx="749808" cy="749808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2103120"/>
            <a:ext cx="420624" cy="42062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607808" y="19202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9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Line: Queue, not a Stack</a:t>
            </a:r>
            <a:endParaRPr lang="en-US" sz="19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2926080"/>
            <a:ext cx="310896" cy="31089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150608" y="2852928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queue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the earliest arrival first — exactly what a fair line does.</a:t>
            </a:r>
            <a:endParaRPr lang="en-US" sz="13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4297680"/>
            <a:ext cx="310896" cy="31089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150608" y="4224528"/>
            <a:ext cx="4251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(LIFO)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serve the most recent arrival first — the opposite of fair.</a:t>
            </a:r>
            <a:endParaRPr lang="en-US" sz="1300" dirty="0"/>
          </a:p>
        </p:txBody>
      </p:sp>
      <p:sp>
        <p:nvSpPr>
          <p:cNvPr id="22" name="Text 1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Queue Management System  ·  Group 35</a:t>
            </a:r>
            <a:endParaRPr lang="en-US" sz="900" dirty="0"/>
          </a:p>
        </p:txBody>
      </p:sp>
      <p:sp>
        <p:nvSpPr>
          <p:cNvPr id="23" name="Text 15"/>
          <p:cNvSpPr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1F6FEB"/>
          </a:solidFill>
          <a:ln/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8404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 Partitioning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61288" y="86868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35 · three members, three layers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65760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74520" y="1874520"/>
            <a:ext cx="1005840" cy="100584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210312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2971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Emirhan Sönmez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1520" y="33192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2364656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051560" y="3657600"/>
            <a:ext cx="2651760" cy="411480"/>
          </a:xfrm>
          <a:prstGeom prst="roundRect">
            <a:avLst>
              <a:gd name="adj" fmla="val 17778"/>
            </a:avLst>
          </a:prstGeom>
          <a:solidFill>
            <a:srgbClr val="EAF1FE"/>
          </a:solidFill>
          <a:ln/>
        </p:spPr>
      </p:sp>
      <p:sp>
        <p:nvSpPr>
          <p:cNvPr id="12" name="Text 9"/>
          <p:cNvSpPr/>
          <p:nvPr/>
        </p:nvSpPr>
        <p:spPr>
          <a:xfrm>
            <a:off x="1051560" y="3657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5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Design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1520" y="4114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03–06 May 2026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68680" y="44348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the problem and use cases; designed the class structure and chose the BST + queue split.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370832" y="1600200"/>
            <a:ext cx="365760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96712" y="1874520"/>
            <a:ext cx="1005840" cy="100584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312" y="2103120"/>
            <a:ext cx="548640" cy="5486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53712" y="2971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Melisa Okay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4553712" y="33192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1905885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873752" y="3657600"/>
            <a:ext cx="2651760" cy="411480"/>
          </a:xfrm>
          <a:prstGeom prst="roundRect">
            <a:avLst>
              <a:gd name="adj" fmla="val 17778"/>
            </a:avLst>
          </a:prstGeom>
          <a:solidFill>
            <a:srgbClr val="EAF1FE"/>
          </a:solidFill>
          <a:ln/>
        </p:spPr>
      </p:sp>
      <p:sp>
        <p:nvSpPr>
          <p:cNvPr id="21" name="Text 17"/>
          <p:cNvSpPr/>
          <p:nvPr/>
        </p:nvSpPr>
        <p:spPr>
          <a:xfrm>
            <a:off x="4873752" y="3657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5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4553712" y="4114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07–11 May 2026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4690872" y="44348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CustomerBST (recursive insert / search) and CustomerQueue (linked front / rear, enqueue / dequeue / contains / snapshot).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8193024" y="1600200"/>
            <a:ext cx="365760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A">
                <a:alpha val="1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9518904" y="1874520"/>
            <a:ext cx="1005840" cy="100584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7504" y="2103120"/>
            <a:ext cx="548640" cy="54864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375904" y="2971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Berat Karataş</a:t>
            </a:r>
            <a:endParaRPr lang="en-US" sz="1800" dirty="0"/>
          </a:p>
        </p:txBody>
      </p:sp>
      <p:sp>
        <p:nvSpPr>
          <p:cNvPr id="28" name="Text 23"/>
          <p:cNvSpPr/>
          <p:nvPr/>
        </p:nvSpPr>
        <p:spPr>
          <a:xfrm>
            <a:off x="8375904" y="33192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2203016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8695944" y="3657600"/>
            <a:ext cx="2651760" cy="411480"/>
          </a:xfrm>
          <a:prstGeom prst="roundRect">
            <a:avLst>
              <a:gd name="adj" fmla="val 17778"/>
            </a:avLst>
          </a:prstGeom>
          <a:solidFill>
            <a:srgbClr val="EAF1FE"/>
          </a:solidFill>
          <a:ln/>
        </p:spPr>
      </p:sp>
      <p:sp>
        <p:nvSpPr>
          <p:cNvPr id="30" name="Text 25"/>
          <p:cNvSpPr/>
          <p:nvPr/>
        </p:nvSpPr>
        <p:spPr>
          <a:xfrm>
            <a:off x="8695944" y="3657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5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&amp; Persistence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8375904" y="4114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12–15 May 2026</a:t>
            </a:r>
            <a:endParaRPr lang="en-US" sz="1150" dirty="0"/>
          </a:p>
        </p:txBody>
      </p:sp>
      <p:sp>
        <p:nvSpPr>
          <p:cNvPr id="32" name="Text 27"/>
          <p:cNvSpPr/>
          <p:nvPr/>
        </p:nvSpPr>
        <p:spPr>
          <a:xfrm>
            <a:off x="8513064" y="44348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Swing interface (queue list, action panel, log) and the Musteriler.txt load / append layer.</a:t>
            </a:r>
            <a:endParaRPr lang="en-US" sz="1250" dirty="0"/>
          </a:p>
        </p:txBody>
      </p:sp>
      <p:sp>
        <p:nvSpPr>
          <p:cNvPr id="33" name="Text 28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Queue Management System  ·  Group 35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411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 &amp; Future Work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13716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customer quickly, serve customers fairly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9D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system does both because each task rests on a suitable structure. The BST answers </a:t>
            </a:r>
            <a:pPr indent="0" marL="0">
              <a:lnSpc>
                <a:spcPct val="115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this ID registered?”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9D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O(log n); the FIFO queue answers </a:t>
            </a:r>
            <a:pPr indent="0" marL="0">
              <a:lnSpc>
                <a:spcPct val="115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is next?”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9D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O(1), always in arrival order.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310896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13294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338328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3538728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74520" y="3401568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Balance the tree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7280" y="41148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D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AVL or red-black variant turns average O(log n) into a guaranteed bound.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0" y="310896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13294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92040" y="338328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353872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69280" y="3401568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Allow leaving the line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892040" y="41148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D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customers who give up waiting exit the queue, not only join and be called.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366760" y="310896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13294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686800" y="338328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2248" y="3538728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464040" y="3401568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 to a database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686800" y="41148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D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flat file once the customer base outgrows a single text file.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777240" y="5257800"/>
            <a:ext cx="10607040" cy="914400"/>
          </a:xfrm>
          <a:prstGeom prst="roundRect">
            <a:avLst>
              <a:gd name="adj" fmla="val 10000"/>
            </a:avLst>
          </a:prstGeom>
          <a:solidFill>
            <a:srgbClr val="1F6FEB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5532120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91640" y="525780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data structure you choose determines what your program does well — so choosing it deliberately is a large part of the design.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D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Queue Management System  ·  Group 35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1F6FE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5778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411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7724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88720" y="14173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Cormen, T. H., Leiserson, C. E., Rivest, R. L., &amp; Stein, C. (2009). Introduction to Algorithms (3rd ed.). MIT Press.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77240" y="1984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88720" y="198424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Weiss, M. A. (2012). Data Structures and Algorithm Analysis in Java (3rd ed.). Pearson.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7240" y="2551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88720" y="2551176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Goodrich, M. T., Tamassia, R., &amp; Goldwasser, M. H. (2014). Data Structures and Algorithms in Java (6th ed.). Wiley.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77240" y="3118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88720" y="311810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Sedgewick, R., &amp; Wayne, K. (2011). Algorithms (4th ed.). Addison-Wesley.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77240" y="3685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88720" y="368503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Oracle. (2024). The Java Tutorials – Creating a GUI With Swing.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777240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88720" y="42519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Oracle. (2024). Java Platform, Standard Edition API Specification (java.io, javax.swing).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9098280" y="1417320"/>
            <a:ext cx="2606040" cy="3520440"/>
          </a:xfrm>
          <a:prstGeom prst="roundRect">
            <a:avLst>
              <a:gd name="adj" fmla="val 4211"/>
            </a:avLst>
          </a:prstGeom>
          <a:solidFill>
            <a:srgbClr val="13294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1828800"/>
            <a:ext cx="777240" cy="7772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9189720" y="27432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9189720" y="324612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D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Queue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D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9189720" y="41148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35 · SEN2212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Section 904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D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Queue Management System  ·  Group 35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Queue Management System</dc:title>
  <dc:subject>PptxGenJS Presentation</dc:subject>
  <dc:creator>Group 35</dc:creator>
  <cp:lastModifiedBy>Group 35</cp:lastModifiedBy>
  <cp:revision>1</cp:revision>
  <dcterms:created xsi:type="dcterms:W3CDTF">2026-06-08T17:23:30Z</dcterms:created>
  <dcterms:modified xsi:type="dcterms:W3CDTF">2026-06-08T17:23:30Z</dcterms:modified>
</cp:coreProperties>
</file>